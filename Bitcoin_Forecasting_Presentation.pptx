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365760"/>
            <a:ext cx="2194560" cy="2194560"/>
          </a:xfrm>
          <a:prstGeom prst="ellipse">
            <a:avLst/>
          </a:prstGeom>
          <a:solidFill>
            <a:srgbClr val="F793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5669280"/>
            <a:ext cx="502920" cy="118872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5120640"/>
            <a:ext cx="685800" cy="173736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5486400"/>
            <a:ext cx="502920" cy="13716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4572000"/>
            <a:ext cx="822960" cy="228600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8" name="Shape 6"/>
          <p:cNvSpPr/>
          <p:nvPr/>
        </p:nvSpPr>
        <p:spPr>
          <a:xfrm>
            <a:off x="11384280" y="5303520"/>
            <a:ext cx="502920" cy="1554480"/>
          </a:xfrm>
          <a:prstGeom prst="rect">
            <a:avLst/>
          </a:prstGeom>
          <a:solidFill>
            <a:srgbClr val="1B2340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577900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755380" y="577900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0" y="603504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55380" y="603504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629107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755380" y="629107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89720" y="523036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41180" y="523036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574243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441180" y="574243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5998464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89720" y="6254496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189720" y="651052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441180" y="651052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26980" y="559612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966960" y="610819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126980" y="610819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26980" y="6364224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126980" y="6620256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61320" y="468172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881360" y="468172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561320" y="493776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561320" y="519379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881360" y="519379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561320" y="5449824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561320" y="596188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561320" y="621792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61320" y="647395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475720" y="541324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1635740" y="541324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1475720" y="566928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635740" y="5669280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635740" y="5925312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1475720" y="6181344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635740" y="6181344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1475720" y="6437376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635740" y="6437376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475720" y="6693408"/>
            <a:ext cx="82296" cy="109728"/>
          </a:xfrm>
          <a:prstGeom prst="rect">
            <a:avLst/>
          </a:prstGeom>
          <a:solidFill>
            <a:srgbClr val="F7931A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366760" y="6217920"/>
            <a:ext cx="274320" cy="36576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48" name="Shape 46"/>
          <p:cNvSpPr/>
          <p:nvPr/>
        </p:nvSpPr>
        <p:spPr>
          <a:xfrm>
            <a:off x="8732520" y="5943600"/>
            <a:ext cx="274320" cy="64008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49" name="Shape 47"/>
          <p:cNvSpPr/>
          <p:nvPr/>
        </p:nvSpPr>
        <p:spPr>
          <a:xfrm>
            <a:off x="9098280" y="6080760"/>
            <a:ext cx="274320" cy="50292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0" name="Shape 48"/>
          <p:cNvSpPr/>
          <p:nvPr/>
        </p:nvSpPr>
        <p:spPr>
          <a:xfrm>
            <a:off x="9464040" y="5669280"/>
            <a:ext cx="274320" cy="91440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1" name="Shape 49"/>
          <p:cNvSpPr/>
          <p:nvPr/>
        </p:nvSpPr>
        <p:spPr>
          <a:xfrm>
            <a:off x="9829800" y="5806440"/>
            <a:ext cx="274320" cy="77724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95560" y="5394960"/>
            <a:ext cx="274320" cy="118872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5486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₿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64008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 Price Forecasting</a:t>
            </a:r>
            <a:endParaRPr lang="en-US" sz="4400" dirty="0"/>
          </a:p>
        </p:txBody>
      </p:sp>
      <p:sp>
        <p:nvSpPr>
          <p:cNvPr id="55" name="Text 53"/>
          <p:cNvSpPr/>
          <p:nvPr/>
        </p:nvSpPr>
        <p:spPr>
          <a:xfrm>
            <a:off x="640080" y="3200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 Multi-Layer Perceptron and an LSTM Network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— Ethical, Responsible &amp; Sustainable AI Practices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Beryl Abi Ouma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· Time-Series Deep Learning with PyTorch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675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prices are highly volatile — forecasting even one day ahead is genuinely useful for traders and exchanges.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Bitcoin's next-day closing price using the previous 30 days of prices (2019–2023 daily data).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deep learning models are built and compared: an MLP (feedforward) and an LSTM (sequence-aware).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LSTM outperformed the MLP on every metric — consistent with the idea that sequence-aware models handle time-dependent data better.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60020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12172B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47.19%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863840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MAPE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90.58% for MLP)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321040" y="3429000"/>
            <a:ext cx="2743200" cy="0"/>
          </a:xfrm>
          <a:prstGeom prst="line">
            <a:avLst/>
          </a:prstGeom>
          <a:noFill/>
          <a:ln w="12700">
            <a:solidFill>
              <a:srgbClr val="3A42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6118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1,674 days of data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1,644 training windows</a:t>
            </a:r>
            <a:endParaRPr lang="en-US" sz="11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training epochs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problem hard?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tomorrow's Bitcoin closing price using the previous 30 days of prices — a time-series regression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prices are driven by news, sentiment, and large trades — not just historical patterns. Order and recency matter.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011680"/>
            <a:ext cx="502920" cy="50292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10896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model with no sense of order (MLP) against one built for sequences (LSTM) to see if sequence-awareness helps.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Bitcoin market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1,674 daily records, Jan 1, 2019 – Aug 1, 2023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across any column type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close (closing price)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timestamp, open, high, low, close, volume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394960" cy="274320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(daily)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Day's highest / lowest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price — the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traded volume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035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historical daily Bitcoin OHLCV market data (Kaggle-style crypto dataset).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prices to model-ready sequences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 scaled to 0–1 with MinMaxScaler — neural nets train better on small, consistent ranges.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1188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11880" y="31546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lookback windows built: input = past 30 days, output = next day's price.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1546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80/20 train-test split — never shuffled, to avoid leaking future data into training.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189720" y="2743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9720" y="31546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 shapes prepared: (samples, 30) for MLP, (samples, 30, 1) for LSTM.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1,644 windows → 1,315 for training, 329 held out for testing.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Bitcoin's price journey, 2019–2023</a:t>
            </a:r>
            <a:endParaRPr lang="en-US" sz="2800" dirty="0"/>
          </a:p>
        </p:txBody>
      </p:sp>
      <p:pic>
        <p:nvPicPr>
          <p:cNvPr id="4" name="Image 0" descr="/home/claude/charts/closing_pric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315200" cy="3346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5448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12172B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03920" y="2240280"/>
            <a:ext cx="2743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bull run pushed price above $60,000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crash brought it back near $16,000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recovery through 2023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volatility throughout — no stable range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Smoothing out the noise: moving averages</a:t>
            </a:r>
            <a:endParaRPr lang="en-US" sz="2800" dirty="0"/>
          </a:p>
        </p:txBody>
      </p:sp>
      <p:pic>
        <p:nvPicPr>
          <p:cNvPr id="4" name="Image 0" descr="/home/claude/charts/moving_aver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680960" cy="34381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554480"/>
            <a:ext cx="2971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7782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lines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778240" y="224028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 reacts quickly — short-term momentum.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MA is smoother — longer-term trend.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crossing above 30-day often signals upward momentum ("bullish"); crossing below signals "bearish".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architectures, one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 days flattened into a list of 30 numbers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neurons → ReLU → 32 neurons → ReLU → 1 output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order — day 1 and day 30 are treated the same 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12172B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9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26517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30 days processed one day at a time, in order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size 64, carries a "memory" forward through the sequence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output layer reads the final memory state to predict day 31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trained identically: Adam optimizer · MSE loss · 10 epochs · learning rate 0.001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outperforms MLP on every metric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035040" cy="219456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453,710,662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79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151,892,116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$21,019.15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79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$11,503.85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793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47.19%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91640"/>
            <a:ext cx="44805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0" y="237744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on all three metrics means LSTM's predictions land consistently closer to the real price.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matches expectations: LSTM can use the order of the 30 days, MLP cannot.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still large in absolute terms — with only 10 training epochs, neither model fully converges. See Limitations.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 vs. predicted price on test data</a:t>
            </a:r>
            <a:endParaRPr lang="en-US" sz="2800" dirty="0"/>
          </a:p>
        </p:txBody>
      </p:sp>
      <p:pic>
        <p:nvPicPr>
          <p:cNvPr id="4" name="Image 0" descr="/home/claude/charts/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86384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32520" y="1554480"/>
            <a:ext cx="2788920" cy="4206240"/>
          </a:xfrm>
          <a:prstGeom prst="roundRect">
            <a:avLst>
              <a:gd name="adj" fmla="val 3279"/>
            </a:avLst>
          </a:prstGeom>
          <a:solidFill>
            <a:srgbClr val="12172B"/>
          </a:solidFill>
          <a:ln/>
        </p:spPr>
      </p:sp>
      <p:sp>
        <p:nvSpPr>
          <p:cNvPr id="6" name="Text 3"/>
          <p:cNvSpPr/>
          <p:nvPr/>
        </p:nvSpPr>
        <p:spPr>
          <a:xfrm>
            <a:off x="896112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961120" y="2240280"/>
            <a:ext cx="2377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= actual price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(LSTM) tracks noticeably closer to actual than orange (MLP)</a:t>
            </a:r>
            <a:endParaRPr lang="en-US" sz="11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under-predict overall — a sign of undertraining in just 10 epochs, not a coding error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traders &amp; exchanges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forecasts help traders size positions and set stop-losses with more confidence.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Timing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short-term direction can inform when to buy or sell.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7931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6060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Reversal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0" y="30632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a shift from uptrend to downtrend early can help prevent large losses.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prediction is hard: our model only sees past prices — not the news, sentiment, or large trades that actually drive sudden price shocks.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constraints on these results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607040" cy="3840480"/>
        </p:xfrm>
        <a:graphic>
          <a:graphicData uri="http://schemas.openxmlformats.org/drawingml/2006/table">
            <a:tbl>
              <a:tblPr/>
              <a:tblGrid>
                <a:gridCol w="2743200"/>
                <a:gridCol w="786384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simplicity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10 training epochs and basic architectures — a real trading system would need far more tuning and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noise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prices are naturally noisy and can move unpredictably in the short term.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Unmodeled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crackdowns or exchange collapses (e.g. FTX) can't be predicted from price history alone.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Undertrained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0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models' predictions sit below actual price levels — a sign neither fully converged in the epoch budget used.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RESPONSIBLE &amp; SUSTAINABLE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Transparency, explainability &amp; fairness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121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is a "black box"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like our LSTM offer low transparency — it's hard to see exactly why a given prediction came out the way it did, unlike Linear Regression, where coefficients directly show feature influence.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financial forecasting tool, this matters: a trader can't easily verify the model's reasoning before acting on it.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tools (e.g. SHAP, feature importance) could be added in future work to make the model's behavior more interpretable.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"fair" to the problem?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3774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demographic-bias case like hiring or lending — but data representativeness still matters here.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spans 2019–2023, covering both bull and bear cycles — but it doesn't include truly extreme shocks (e.g. exchange collapses), so the model may be blind to unprecedented events.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upfront about what the training data does and doesn't cover is itself a transparency practice.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ETHICAL, RESPONSIBLE &amp; SUSTAINABLE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Accountability, robustness &amp; sustainability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7931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892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 is for educational forecasting only — not financial advice. Predictions should never replace human judgment in real trading decisions.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9202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7931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892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55080" y="2423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wasn't tested against manipulated or adversarial data (e.g. pump-and-dump patterns), and performance may degrade under sudden regime shifts unlike anything in the training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7931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950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chronological (never shuffled) split, documented libraries, and a fixed preprocessing pipeline mean someone else could rerun this and get the same result.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74904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7931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39502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55080" y="44805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deliberately lightweight — small architectures and only 10 epochs — avoiding the heavy energy footprint of large-scale deep learning training.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1B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Sequence-aware models have the edge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outperformed MLP across MSE, MAE, and MAPE — confirming that treating price data as an ordered sequence helps forecasting.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errors remain high, reflecting the limited training budget (10 epochs) rather than a flaw in the approach.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E4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more epochs, additional features (volume, technical indicators), and larger LSTM/GRU architectures.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Bitcoin_Daily.csv — daily Bitcoin OHLCV market data, Jan 2019–Aug 2023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pandas, NumPy, Matplotlib, scikit-learn (MinMaxScaler, metrics), PyTorch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Multi-Layer Perceptron (feedforward NN), Long Short-Term Memory (recurrent NN)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GGK-MAIADS — Week 5, Ethical, Responsible, and Sustainable AI Practices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Forecasting — MLP vs LSTM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2026-08-22T05:08:11Z</dcterms:created>
  <dcterms:modified xsi:type="dcterms:W3CDTF">2026-08-22T05:08:11Z</dcterms:modified>
</cp:coreProperties>
</file>